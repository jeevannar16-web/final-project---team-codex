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0-10.svg" ContentType="image/svg+xml"/>
  <Override PartName="/ppt/media/image-10-2.svg" ContentType="image/svg+xml"/>
  <Override PartName="/ppt/media/image-10-4.svg" ContentType="image/svg+xml"/>
  <Override PartName="/ppt/media/image-10-6.svg" ContentType="image/svg+xml"/>
  <Override PartName="/ppt/media/image-10-8.svg" ContentType="image/svg+xml"/>
  <Override PartName="/ppt/media/image-2-2.svg" ContentType="image/svg+xml"/>
  <Override PartName="/ppt/media/image-2-4.svg" ContentType="image/svg+xml"/>
  <Override PartName="/ppt/media/image-2-6.svg" ContentType="image/svg+xml"/>
  <Override PartName="/ppt/media/image-2-8.svg" ContentType="image/svg+xml"/>
  <Override PartName="/ppt/media/image-6-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Baskervville"/>
      <p:regular r:id="rId201314"/>
    </p:embeddedFont>
    <p:embeddedFont>
      <p:font typeface="Baskervville Medium"/>
      <p:regular r:id="rId201315"/>
    </p:embeddedFont>
    <p:embeddedFont>
      <p:font typeface="Baskervville SemiBold"/>
      <p:regular r:id="rId201316"/>
    </p:embeddedFont>
    <p:embeddedFont>
      <p:font typeface="Baskervville Bold"/>
      <p:regular r:id="rId201317"/>
    </p:embeddedFont>
    <p:embeddedFont>
      <p:font typeface="Poppins ExtraLight"/>
      <p:regular r:id="rId201318"/>
    </p:embeddedFont>
    <p:embeddedFont>
      <p:font typeface="Poppins Thin"/>
      <p:regular r:id="rId201319"/>
    </p:embeddedFont>
    <p:embeddedFont>
      <p:font typeface="Poppins Light"/>
      <p:regular r:id="rId201320"/>
    </p:embeddedFont>
    <p:embeddedFont>
      <p:font typeface="Poppins SemiBold"/>
      <p:regular r:id="rId201321"/>
    </p:embeddedFont>
    <p:embeddedFont>
      <p:font typeface="Poppins Bold"/>
      <p:regular r:id="rId201322"/>
    </p:embeddedFont>
    <p:embeddedFont>
      <p:font typeface="Poppins ExtraBold"/>
      <p:regular r:id="rId201323"/>
    </p:embeddedFont>
    <p:embeddedFont>
      <p:font typeface="Poppins Black"/>
      <p:regular r:id="rId201324"/>
    </p:embeddedFont>
    <p:embeddedFont>
      <p:font typeface="Poppins"/>
      <p:regular r:id="rId201325"/>
    </p:embeddedFont>
    <p:embeddedFont>
      <p:font typeface="Poppins Medium"/>
      <p:regular r:id="rId2013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Relationship Id="rId201320" Type="http://schemas.openxmlformats.org/officeDocument/2006/relationships/font" Target="fonts/201320.fntdata"/><Relationship Id="rId201321" Type="http://schemas.openxmlformats.org/officeDocument/2006/relationships/font" Target="fonts/201321.fntdata"/><Relationship Id="rId201322" Type="http://schemas.openxmlformats.org/officeDocument/2006/relationships/font" Target="fonts/201322.fntdata"/><Relationship Id="rId201323" Type="http://schemas.openxmlformats.org/officeDocument/2006/relationships/font" Target="fonts/201323.fntdata"/><Relationship Id="rId201324" Type="http://schemas.openxmlformats.org/officeDocument/2006/relationships/font" Target="fonts/201324.fntdata"/><Relationship Id="rId201325" Type="http://schemas.openxmlformats.org/officeDocument/2006/relationships/font" Target="fonts/201325.fntdata"/><Relationship Id="rId201326" Type="http://schemas.openxmlformats.org/officeDocument/2006/relationships/font" Target="fonts/201326.fntdata"/><Relationship Id="rId201327" Type="http://schemas.openxmlformats.org/officeDocument/2006/relationships/font" Target="fonts/201327.fntdata"/><Relationship Id="rId201328" Type="http://schemas.openxmlformats.org/officeDocument/2006/relationships/font" Target="fonts/201328.fntdata"/><Relationship Id="rId201329" Type="http://schemas.openxmlformats.org/officeDocument/2006/relationships/font" Target="fonts/201329.fntdata"/><Relationship Id="rId201330" Type="http://schemas.openxmlformats.org/officeDocument/2006/relationships/font" Target="fonts/201330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2-9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7.jpe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2-9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2-9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5705" y="1625426"/>
            <a:ext cx="4903589" cy="1041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Installing Operating Systems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405705" y="2840757"/>
            <a:ext cx="4903589" cy="370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Windows 11 · macOS · Ubuntu · Arch Linux · Fedora · Debian — a hands-on guide from ISO to first boot.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05705" y="3342010"/>
            <a:ext cx="1363340" cy="176064"/>
          </a:xfrm>
          <a:prstGeom prst="roundRect">
            <a:avLst>
              <a:gd name="adj" fmla="val 79015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475208" y="3376761"/>
            <a:ext cx="1681535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BEGINNER TO INTERMEDIATE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826940" y="3342010"/>
            <a:ext cx="1594619" cy="176064"/>
          </a:xfrm>
          <a:prstGeom prst="roundRect">
            <a:avLst>
              <a:gd name="adj" fmla="val 79015"/>
            </a:avLst>
          </a:prstGeom>
          <a:noFill/>
          <a:ln w="4763">
            <a:solidFill>
              <a:srgbClr val="C7A2AC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896442" y="3376761"/>
            <a:ext cx="1912813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C7A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OPERATING SYSTEMS COVERED</a:t>
            </a:r>
            <a:endParaRPr lang="en-US" sz="700" dirty="0"/>
          </a:p>
        </p:txBody>
      </p:sp>
    </p:spTree>
    <p:bg>
      <p:bgPr>
        <a:solidFill>
          <a:srgbClr val="1a1a2e"/>
        </a:solidFill>
      </p:bgPr>
    </p:bg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5705" y="629989"/>
            <a:ext cx="8332589" cy="520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What You'll Need Before Starting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405705" y="1382539"/>
            <a:ext cx="4108326" cy="1210568"/>
          </a:xfrm>
          <a:prstGeom prst="roundRect">
            <a:avLst>
              <a:gd name="adj" fmla="val 14365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21568" y="1498402"/>
            <a:ext cx="347737" cy="347737"/>
          </a:xfrm>
          <a:prstGeom prst="ellipse">
            <a:avLst/>
          </a:prstGeom>
          <a:solidFill>
            <a:srgbClr val="C7A2AC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7190" y="1593949"/>
            <a:ext cx="156493" cy="1564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1568" y="1962001"/>
            <a:ext cx="3876601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Bootable USB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21568" y="2291804"/>
            <a:ext cx="3876601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GB minimum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629894" y="1382539"/>
            <a:ext cx="4108400" cy="1210568"/>
          </a:xfrm>
          <a:prstGeom prst="roundRect">
            <a:avLst>
              <a:gd name="adj" fmla="val 14365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4745757" y="1498402"/>
            <a:ext cx="347737" cy="347737"/>
          </a:xfrm>
          <a:prstGeom prst="ellipse">
            <a:avLst/>
          </a:prstGeom>
          <a:solidFill>
            <a:srgbClr val="C7A2AC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1379" y="1593949"/>
            <a:ext cx="156493" cy="1564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45757" y="1962001"/>
            <a:ext cx="3876675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Hardware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745757" y="2291804"/>
            <a:ext cx="3876675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GB RAM · 64 GB storage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05705" y="2708970"/>
            <a:ext cx="4108326" cy="1210568"/>
          </a:xfrm>
          <a:prstGeom prst="roundRect">
            <a:avLst>
              <a:gd name="adj" fmla="val 14365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21568" y="2824832"/>
            <a:ext cx="347737" cy="347737"/>
          </a:xfrm>
          <a:prstGeom prst="ellipse">
            <a:avLst/>
          </a:prstGeom>
          <a:solidFill>
            <a:srgbClr val="C7A2AC"/>
          </a:solidFill>
          <a:ln/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190" y="2920380"/>
            <a:ext cx="156493" cy="1564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1568" y="3288432"/>
            <a:ext cx="3876601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Internet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21568" y="3618235"/>
            <a:ext cx="3876601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Required for updates &amp; drivers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629894" y="2708970"/>
            <a:ext cx="4108400" cy="1210568"/>
          </a:xfrm>
          <a:prstGeom prst="roundRect">
            <a:avLst>
              <a:gd name="adj" fmla="val 14365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4745757" y="2824832"/>
            <a:ext cx="347737" cy="347737"/>
          </a:xfrm>
          <a:prstGeom prst="ellipse">
            <a:avLst/>
          </a:prstGeom>
          <a:solidFill>
            <a:srgbClr val="C7A2AC"/>
          </a:solidFill>
          <a:ln/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41379" y="2920380"/>
            <a:ext cx="156493" cy="1564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45757" y="3288432"/>
            <a:ext cx="3876675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Backup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4745757" y="3618235"/>
            <a:ext cx="3876675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data backup before install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05705" y="4049911"/>
            <a:ext cx="8332589" cy="463525"/>
          </a:xfrm>
          <a:prstGeom prst="roundRect">
            <a:avLst>
              <a:gd name="adj" fmla="val 37516"/>
            </a:avLst>
          </a:prstGeom>
          <a:solidFill>
            <a:srgbClr val="ECDFE3"/>
          </a:solidFill>
          <a:ln/>
        </p:spPr>
        <p:txBody>
          <a:bodyPr/>
          <a:p/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568" y="4212357"/>
            <a:ext cx="144884" cy="11586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82315" y="4194721"/>
            <a:ext cx="8297317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Universal steps: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Download ISO → Write USB (Rufus / Etcher) → Set UEFI boot → Partition → Install → Post-setup.</a:t>
            </a:r>
            <a:endParaRPr lang="en-US" sz="900" dirty="0"/>
          </a:p>
        </p:txBody>
      </p:sp>
    </p:spTree>
    <p:bg>
      <p:bgPr>
        <a:solidFill>
          <a:srgbClr val="1a1a2e"/>
        </a:solidFill>
      </p:bgPr>
    </p:bg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05705" y="328985"/>
            <a:ext cx="598810" cy="154037"/>
          </a:xfrm>
          <a:prstGeom prst="roundRect">
            <a:avLst>
              <a:gd name="adj" fmla="val 79024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66502" y="359346"/>
            <a:ext cx="934417" cy="93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WINDOWS 11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1055191" y="328985"/>
            <a:ext cx="760586" cy="154037"/>
          </a:xfrm>
          <a:prstGeom prst="roundRect">
            <a:avLst>
              <a:gd name="adj" fmla="val 79024"/>
            </a:avLst>
          </a:prstGeom>
          <a:noFill/>
          <a:ln w="4763">
            <a:solidFill>
              <a:srgbClr val="C7A2AC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15988" y="359346"/>
            <a:ext cx="1096194" cy="93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C7A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DIFFICULTY: LOW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405705" y="518517"/>
            <a:ext cx="4903589" cy="911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Windows 11 — Guided GUI Install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405705" y="1562919"/>
            <a:ext cx="202853" cy="1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01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405705" y="1720900"/>
            <a:ext cx="4903589" cy="14288"/>
          </a:xfrm>
          <a:prstGeom prst="rect">
            <a:avLst/>
          </a:prstGeom>
          <a:solidFill>
            <a:srgbClr val="C7A2AC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05705" y="1800151"/>
            <a:ext cx="4903589" cy="227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Download ISO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05705" y="2081138"/>
            <a:ext cx="4903589" cy="15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Microsoft website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05705" y="2397993"/>
            <a:ext cx="202853" cy="1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02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05705" y="2555974"/>
            <a:ext cx="4903589" cy="14288"/>
          </a:xfrm>
          <a:prstGeom prst="rect">
            <a:avLst/>
          </a:prstGeom>
          <a:solidFill>
            <a:srgbClr val="C7A2AC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05705" y="2635225"/>
            <a:ext cx="4903589" cy="227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Write USB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05705" y="2916213"/>
            <a:ext cx="4903589" cy="15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Rufus · 8 GB+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05705" y="3233068"/>
            <a:ext cx="202853" cy="1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03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05705" y="3391049"/>
            <a:ext cx="4903589" cy="14288"/>
          </a:xfrm>
          <a:prstGeom prst="rect">
            <a:avLst/>
          </a:prstGeom>
          <a:solidFill>
            <a:srgbClr val="C7A2AC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05705" y="3470300"/>
            <a:ext cx="4903589" cy="227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Boot &amp; Partition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05705" y="3751287"/>
            <a:ext cx="4903589" cy="15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UEFI · Auto-partition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05705" y="4068142"/>
            <a:ext cx="202853" cy="1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04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05705" y="4226123"/>
            <a:ext cx="4903589" cy="14288"/>
          </a:xfrm>
          <a:prstGeom prst="rect">
            <a:avLst/>
          </a:prstGeom>
          <a:solidFill>
            <a:srgbClr val="C7A2AC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05705" y="4305374"/>
            <a:ext cx="4903589" cy="227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Setup &amp; Update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05705" y="4586362"/>
            <a:ext cx="4903589" cy="15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Account · Drivers · Windows Update</a:t>
            </a:r>
            <a:endParaRPr lang="en-US" sz="750" dirty="0"/>
          </a:p>
        </p:txBody>
      </p:sp>
    </p:spTree>
    <p:bg>
      <p:bgPr>
        <a:solidFill>
          <a:srgbClr val="1a1a2e"/>
        </a:solidFill>
      </p:bgPr>
    </p:bg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705" y="1090092"/>
            <a:ext cx="5317182" cy="29631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10424" y="543074"/>
            <a:ext cx="480268" cy="176064"/>
          </a:xfrm>
          <a:prstGeom prst="roundRect">
            <a:avLst>
              <a:gd name="adj" fmla="val 79015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079927" y="577825"/>
            <a:ext cx="798463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MACOS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6548586" y="543074"/>
            <a:ext cx="870124" cy="176064"/>
          </a:xfrm>
          <a:prstGeom prst="roundRect">
            <a:avLst>
              <a:gd name="adj" fmla="val 79015"/>
            </a:avLst>
          </a:prstGeom>
          <a:noFill/>
          <a:ln w="4763">
            <a:solidFill>
              <a:srgbClr val="C7A2AC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618089" y="577825"/>
            <a:ext cx="1188318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C7A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DIFFICULTY: LOW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10424" y="765497"/>
            <a:ext cx="2732559" cy="2082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macOS — Apple Hardware Only</a:t>
            </a:r>
            <a:endParaRPr lang="en-US" sz="3250" dirty="0"/>
          </a:p>
        </p:txBody>
      </p:sp>
      <p:sp>
        <p:nvSpPr>
          <p:cNvPr id="8" name="Text 5"/>
          <p:cNvSpPr/>
          <p:nvPr/>
        </p:nvSpPr>
        <p:spPr>
          <a:xfrm>
            <a:off x="6010424" y="2964359"/>
            <a:ext cx="2732559" cy="863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Recovery Mode: </a:t>
            </a:r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⌘ + R</a:t>
            </a:r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at boot</a:t>
            </a:r>
            <a:endParaRPr lang="en-US" sz="900" dirty="0"/>
          </a:p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Erase disk via Disk Utility</a:t>
            </a:r>
            <a:endParaRPr lang="en-US" sz="900" dirty="0"/>
          </a:p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Reinstall macOS over internet</a:t>
            </a:r>
            <a:endParaRPr lang="en-US" sz="900" dirty="0"/>
          </a:p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Apple ID &amp; FileVault post-setup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010424" y="3958158"/>
            <a:ext cx="2732559" cy="642193"/>
          </a:xfrm>
          <a:prstGeom prst="roundRect">
            <a:avLst>
              <a:gd name="adj" fmla="val 27078"/>
            </a:avLst>
          </a:prstGeom>
          <a:solidFill>
            <a:srgbClr val="ECDFE3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287" y="4130129"/>
            <a:ext cx="144884" cy="11586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87033" y="4091434"/>
            <a:ext cx="2240087" cy="375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Bootable USB: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createinstallmedia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 Terminal — 16 GB drive required.</a:t>
            </a:r>
            <a:endParaRPr lang="en-US" sz="900" dirty="0"/>
          </a:p>
        </p:txBody>
      </p:sp>
    </p:spTree>
    <p:bg>
      <p:bgPr>
        <a:solidFill>
          <a:srgbClr val="1a1a2e"/>
        </a:solidFill>
      </p:bgPr>
    </p:bg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705" y="333598"/>
            <a:ext cx="483394" cy="170557"/>
          </a:xfrm>
          <a:prstGeom prst="roundRect">
            <a:avLst>
              <a:gd name="adj" fmla="val 79017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3050" y="367233"/>
            <a:ext cx="80590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UBUNTU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945207" y="333598"/>
            <a:ext cx="1239366" cy="170557"/>
          </a:xfrm>
          <a:prstGeom prst="roundRect">
            <a:avLst>
              <a:gd name="adj" fmla="val 79017"/>
            </a:avLst>
          </a:prstGeom>
          <a:noFill/>
          <a:ln w="4763">
            <a:solidFill>
              <a:srgbClr val="C7A2A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12552" y="367233"/>
            <a:ext cx="1561877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C7A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DIFFICULTY: MEDIUM-LOW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05705" y="547613"/>
            <a:ext cx="8332589" cy="504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Ubuntu — Best Linux Starting Point</a:t>
            </a:r>
            <a:endParaRPr lang="en-US" sz="3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705" y="1215330"/>
            <a:ext cx="561529" cy="7189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6027" y="1327621"/>
            <a:ext cx="7662267" cy="252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Download ISO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76027" y="1645146"/>
            <a:ext cx="7662267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ubuntu.com</a:t>
            </a:r>
            <a:endParaRPr lang="en-US" sz="8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05" y="1934245"/>
            <a:ext cx="561529" cy="71891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6027" y="2046536"/>
            <a:ext cx="7662267" cy="252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Write USB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076027" y="2364060"/>
            <a:ext cx="7662267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Balena Etcher</a:t>
            </a:r>
            <a:endParaRPr lang="en-US" sz="8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05" y="2653159"/>
            <a:ext cx="561529" cy="71891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6027" y="2765450"/>
            <a:ext cx="7662267" cy="252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Try or Install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076027" y="3082975"/>
            <a:ext cx="7662267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session first</a:t>
            </a:r>
            <a:endParaRPr lang="en-US" sz="8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05" y="3372073"/>
            <a:ext cx="561529" cy="71891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76027" y="3484364"/>
            <a:ext cx="7662267" cy="252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Partition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1076027" y="3801889"/>
            <a:ext cx="7662267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Erase or alongside</a:t>
            </a:r>
            <a:endParaRPr lang="en-US" sz="8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705" y="4090988"/>
            <a:ext cx="561529" cy="71891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76027" y="4203278"/>
            <a:ext cx="7662267" cy="252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Post-Install</a:t>
            </a:r>
            <a:endParaRPr lang="en-US" sz="1550" dirty="0"/>
          </a:p>
        </p:txBody>
      </p:sp>
      <p:sp>
        <p:nvSpPr>
          <p:cNvPr id="21" name="Text 14"/>
          <p:cNvSpPr/>
          <p:nvPr/>
        </p:nvSpPr>
        <p:spPr>
          <a:xfrm>
            <a:off x="1076027" y="4520803"/>
            <a:ext cx="7662267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85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</a:t>
            </a:r>
            <a:endParaRPr lang="en-US" sz="850" dirty="0"/>
          </a:p>
        </p:txBody>
      </p:sp>
    </p:spTree>
    <p:bg>
      <p:bgPr>
        <a:solidFill>
          <a:srgbClr val="1a1a2e"/>
        </a:solidFill>
      </p:bgPr>
    </p:bg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705" y="588094"/>
            <a:ext cx="614288" cy="162297"/>
          </a:xfrm>
          <a:prstGeom prst="roundRect">
            <a:avLst>
              <a:gd name="adj" fmla="val 79021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69776" y="620092"/>
            <a:ext cx="943347" cy="98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 LINUX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1073423" y="588094"/>
            <a:ext cx="820043" cy="162297"/>
          </a:xfrm>
          <a:prstGeom prst="roundRect">
            <a:avLst>
              <a:gd name="adj" fmla="val 79021"/>
            </a:avLst>
          </a:prstGeom>
          <a:noFill/>
          <a:ln w="4763">
            <a:solidFill>
              <a:srgbClr val="C7A2A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37493" y="620092"/>
            <a:ext cx="1149102" cy="98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C7A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DIFFICULTY: HIGH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05705" y="789756"/>
            <a:ext cx="2746921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Arch Linux — Build It Yourself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05705" y="1848296"/>
            <a:ext cx="3204121" cy="164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Terminal-only. You configure everything.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705" y="2123331"/>
            <a:ext cx="2746921" cy="7450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4002" y="2244477"/>
            <a:ext cx="2447479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Partition manually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84002" y="2582987"/>
            <a:ext cx="2447479" cy="164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fdisk</a:t>
            </a:r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</a:t>
            </a:r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mkfs</a:t>
            </a:r>
            <a:endParaRPr lang="en-US" sz="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705" y="2966814"/>
            <a:ext cx="2746921" cy="7450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4002" y="3087960"/>
            <a:ext cx="2447479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Install base system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84002" y="3426470"/>
            <a:ext cx="2447479" cy="164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pacstrap</a:t>
            </a:r>
            <a:endParaRPr lang="en-US" sz="8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5705" y="3810298"/>
            <a:ext cx="2746921" cy="7450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4002" y="3931444"/>
            <a:ext cx="2447479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Configure system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84002" y="4269953"/>
            <a:ext cx="2447479" cy="164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Fstab, locale, bootloader</a:t>
            </a:r>
            <a:endParaRPr lang="en-US" sz="8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8136" y="921841"/>
            <a:ext cx="5324921" cy="3299668"/>
          </a:xfrm>
          <a:prstGeom prst="rect">
            <a:avLst/>
          </a:prstGeom>
        </p:spPr>
      </p:pic>
    </p:spTree>
    <p:bg>
      <p:bgPr>
        <a:solidFill>
          <a:srgbClr val="1a1a2e"/>
        </a:solidFill>
      </p:bgPr>
    </p:bg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34705" y="321394"/>
            <a:ext cx="467469" cy="167878"/>
          </a:xfrm>
          <a:prstGeom prst="roundRect">
            <a:avLst>
              <a:gd name="adj" fmla="val 78983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3900934" y="354509"/>
            <a:ext cx="792212" cy="10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FEDORA</a:t>
            </a:r>
            <a:endParaRPr lang="en-US" sz="650" dirty="0"/>
          </a:p>
        </p:txBody>
      </p:sp>
      <p:sp>
        <p:nvSpPr>
          <p:cNvPr id="5" name="Shape 2"/>
          <p:cNvSpPr/>
          <p:nvPr/>
        </p:nvSpPr>
        <p:spPr>
          <a:xfrm>
            <a:off x="4357390" y="321394"/>
            <a:ext cx="976387" cy="167878"/>
          </a:xfrm>
          <a:prstGeom prst="roundRect">
            <a:avLst>
              <a:gd name="adj" fmla="val 78983"/>
            </a:avLst>
          </a:prstGeom>
          <a:noFill/>
          <a:ln w="4763">
            <a:solidFill>
              <a:srgbClr val="C7A2AC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4423618" y="354509"/>
            <a:ext cx="1301130" cy="10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C7A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DIFFICULTY: MEDIUM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3834705" y="531391"/>
            <a:ext cx="4903589" cy="992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Fedora — Cutting-Edge, Polished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3834705" y="1681981"/>
            <a:ext cx="4903589" cy="704850"/>
          </a:xfrm>
          <a:prstGeom prst="roundRect">
            <a:avLst>
              <a:gd name="adj" fmla="val 23515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945136" y="1792412"/>
            <a:ext cx="4682728" cy="248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Download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3945136" y="2103760"/>
            <a:ext cx="4682728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Workstation ISO — getfedora.org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834705" y="2492127"/>
            <a:ext cx="4903589" cy="704850"/>
          </a:xfrm>
          <a:prstGeom prst="roundRect">
            <a:avLst>
              <a:gd name="adj" fmla="val 23515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945136" y="2602557"/>
            <a:ext cx="4682728" cy="248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Anaconda Installer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3945136" y="2913906"/>
            <a:ext cx="4682728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GUI partitioner · LVM support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834705" y="3302273"/>
            <a:ext cx="4903589" cy="709613"/>
          </a:xfrm>
          <a:prstGeom prst="roundRect">
            <a:avLst>
              <a:gd name="adj" fmla="val 23357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945136" y="3412703"/>
            <a:ext cx="4682728" cy="248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DNF Package Manager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3945136" y="3724052"/>
            <a:ext cx="4682728" cy="177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 dnf update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834705" y="4117181"/>
            <a:ext cx="4903589" cy="704850"/>
          </a:xfrm>
          <a:prstGeom prst="roundRect">
            <a:avLst>
              <a:gd name="adj" fmla="val 23515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3945136" y="4227612"/>
            <a:ext cx="4682728" cy="248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SELinux Enabled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3945136" y="4538960"/>
            <a:ext cx="4682728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Security defaults on</a:t>
            </a:r>
            <a:endParaRPr lang="en-US" sz="850" dirty="0"/>
          </a:p>
        </p:txBody>
      </p:sp>
    </p:spTree>
    <p:bg>
      <p:bgPr>
        <a:solidFill>
          <a:srgbClr val="1a1a2e"/>
        </a:solidFill>
      </p:bgPr>
    </p:bg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705" y="584820"/>
            <a:ext cx="5317182" cy="397378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10424" y="803449"/>
            <a:ext cx="459507" cy="176064"/>
          </a:xfrm>
          <a:prstGeom prst="roundRect">
            <a:avLst>
              <a:gd name="adj" fmla="val 79015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079927" y="838200"/>
            <a:ext cx="777701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DEBIAN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6527825" y="803449"/>
            <a:ext cx="1024905" cy="176064"/>
          </a:xfrm>
          <a:prstGeom prst="roundRect">
            <a:avLst>
              <a:gd name="adj" fmla="val 79015"/>
            </a:avLst>
          </a:prstGeom>
          <a:noFill/>
          <a:ln w="4763">
            <a:solidFill>
              <a:srgbClr val="C7A2AC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597328" y="838200"/>
            <a:ext cx="1343099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C7A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DIFFICULTY: MEDIUM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10424" y="1025872"/>
            <a:ext cx="2732559" cy="1562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Debian — Stable &amp; Universal</a:t>
            </a:r>
            <a:endParaRPr lang="en-US" sz="3250" dirty="0"/>
          </a:p>
        </p:txBody>
      </p:sp>
      <p:sp>
        <p:nvSpPr>
          <p:cNvPr id="8" name="Text 5"/>
          <p:cNvSpPr/>
          <p:nvPr/>
        </p:nvSpPr>
        <p:spPr>
          <a:xfrm>
            <a:off x="6010424" y="2703984"/>
            <a:ext cx="2732559" cy="868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Text-based or GUI installer</a:t>
            </a:r>
            <a:endParaRPr lang="en-US" sz="900" dirty="0"/>
          </a:p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 partitioning common</a:t>
            </a:r>
            <a:endParaRPr lang="en-US" sz="900" dirty="0"/>
          </a:p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Non-free firmware separate download</a:t>
            </a:r>
            <a:endParaRPr lang="en-US" sz="900" dirty="0"/>
          </a:p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apt</a:t>
            </a:r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package management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010424" y="3702546"/>
            <a:ext cx="2732559" cy="637431"/>
          </a:xfrm>
          <a:prstGeom prst="roundRect">
            <a:avLst>
              <a:gd name="adj" fmla="val 27281"/>
            </a:avLst>
          </a:prstGeom>
          <a:solidFill>
            <a:srgbClr val="ECDFE3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287" y="3874517"/>
            <a:ext cx="144884" cy="11586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87033" y="3835822"/>
            <a:ext cx="2240087" cy="370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Best for: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Servers, stable workstations, learning Linux internals.</a:t>
            </a:r>
            <a:endParaRPr lang="en-US" sz="900" dirty="0"/>
          </a:p>
        </p:txBody>
      </p:sp>
    </p:spTree>
    <p:bg>
      <p:bgPr>
        <a:solidFill>
          <a:srgbClr val="1a1a2e"/>
        </a:solidFill>
      </p:bgPr>
    </p:bg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5705" y="1007492"/>
            <a:ext cx="8332589" cy="520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Difficulty &amp; Time Comparison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405705" y="1760041"/>
            <a:ext cx="8332589" cy="2375892"/>
          </a:xfrm>
          <a:prstGeom prst="roundRect">
            <a:avLst>
              <a:gd name="adj" fmla="val 731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05705" y="2101155"/>
            <a:ext cx="8332589" cy="724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05705" y="2439888"/>
            <a:ext cx="8332589" cy="724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05705" y="2778621"/>
            <a:ext cx="8332589" cy="724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05705" y="3117354"/>
            <a:ext cx="8332589" cy="724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05705" y="3456087"/>
            <a:ext cx="8332589" cy="724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05705" y="3794820"/>
            <a:ext cx="8332589" cy="724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26554" y="1839069"/>
            <a:ext cx="2056507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57586" y="1839069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Difficulty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55690" y="1839069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Install Time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53794" y="1839069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CLI Required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1898" y="1839069"/>
            <a:ext cx="2222971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Best For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6554" y="2177802"/>
            <a:ext cx="2056507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Windows 11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57586" y="2177802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55690" y="2177802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30–45 min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53794" y="2177802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Minimal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1898" y="2177802"/>
            <a:ext cx="2222971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General use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6554" y="2516535"/>
            <a:ext cx="2056507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macOS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57586" y="2516535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55690" y="2516535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30–60 min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53794" y="2516535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Minimal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1898" y="2516535"/>
            <a:ext cx="2222971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Apple hardware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6554" y="2855268"/>
            <a:ext cx="2056507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Ubuntu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357586" y="2855268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Medium-Low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55690" y="2855268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20–40 min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53794" y="2855268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Optional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1898" y="2855268"/>
            <a:ext cx="2222971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Beginners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6554" y="3194000"/>
            <a:ext cx="2056507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Fedora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57586" y="3194000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Medium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55690" y="3194000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25–45 min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53794" y="3194000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Optional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51898" y="3194000"/>
            <a:ext cx="2222971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6554" y="3532733"/>
            <a:ext cx="2056507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Debian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357586" y="3532733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Medium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855690" y="3532733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40–60 min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53794" y="3532733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Moderate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51898" y="3532733"/>
            <a:ext cx="2222971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Servers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6554" y="3871466"/>
            <a:ext cx="2056507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 Linux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357586" y="3871466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855690" y="3871466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1–3 hrs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53794" y="3871466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51898" y="3871466"/>
            <a:ext cx="2222971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Advanced users</a:t>
            </a:r>
            <a:endParaRPr lang="en-US" sz="900" dirty="0"/>
          </a:p>
        </p:txBody>
      </p:sp>
    </p:spTree>
    <p:bg>
      <p:bgPr>
        <a:solidFill>
          <a:srgbClr val="1a1a2e"/>
        </a:solidFill>
      </p:bgPr>
    </p:bg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5705" y="890662"/>
            <a:ext cx="8332589" cy="520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Installation Methods at a Glance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705" y="1643211"/>
            <a:ext cx="231800" cy="231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5705" y="2019895"/>
            <a:ext cx="2680915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Fresh Install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05705" y="2349698"/>
            <a:ext cx="2680915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Wipe disk, clean start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1505" y="1643211"/>
            <a:ext cx="231800" cy="231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31505" y="2019895"/>
            <a:ext cx="2680915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Dual-Boot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231505" y="2349698"/>
            <a:ext cx="2680915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Share disk, choose at boot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57305" y="1643211"/>
            <a:ext cx="231800" cy="231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57305" y="2019895"/>
            <a:ext cx="2680990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Virtual Machine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057305" y="2349698"/>
            <a:ext cx="2680990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VirtualBox / VMware — risk-free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5705" y="2766938"/>
            <a:ext cx="231800" cy="2318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05705" y="3143622"/>
            <a:ext cx="2680915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Live / Persistent USB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405705" y="3473425"/>
            <a:ext cx="2680915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 Linux from USB</a:t>
            </a:r>
            <a:endParaRPr lang="en-US" sz="9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31505" y="2766938"/>
            <a:ext cx="231800" cy="2318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31505" y="3143622"/>
            <a:ext cx="2680915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WSL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3231505" y="3473425"/>
            <a:ext cx="2680915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Linux on Windows — no dual-boot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405705" y="3789238"/>
            <a:ext cx="8332589" cy="463525"/>
          </a:xfrm>
          <a:prstGeom prst="roundRect">
            <a:avLst>
              <a:gd name="adj" fmla="val 37516"/>
            </a:avLst>
          </a:prstGeom>
          <a:solidFill>
            <a:srgbClr val="ECDFE3"/>
          </a:solidFill>
          <a:ln/>
        </p:spPr>
        <p:txBody>
          <a:bodyPr/>
          <a:p/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1568" y="3951684"/>
            <a:ext cx="144884" cy="11586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82315" y="3934048"/>
            <a:ext cx="8297317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Pro tip: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Test in a VM before touching real hardware.</a:t>
            </a:r>
            <a:endParaRPr lang="en-US" sz="900" dirty="0"/>
          </a:p>
        </p:txBody>
      </p:sp>
    </p:spTree>
    <p:bg>
      <p:bgPr>
        <a:solidFill>
          <a:srgbClr val="1a1a2e"/>
        </a:solidFill>
      </p:bgPr>
    </p:b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2026-07-09T01:20:23Z</dcterms:created>
  <dcterms:modified xsi:type="dcterms:W3CDTF">2026-07-09T01:20:23Z</dcterms:modified>
</cp:coreProperties>
</file>